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(months)</c:v>
                </c:pt>
              </c:strCache>
            </c:strRef>
          </c:tx>
          <c:spPr>
            <a:solidFill>
              <a:srgbClr val="00A8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2B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A4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Phase 1: Pilot clinic</c:v>
                  </c:pt>
                  <c:pt idx="1">
                    <c:v>Phase 2: District rollout</c:v>
                  </c:pt>
                  <c:pt idx="2">
                    <c:v>Phase 3: Province-wide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4754880" cy="4754880"/>
          </a:xfrm>
          <a:prstGeom prst="ellipse">
            <a:avLst/>
          </a:prstGeom>
          <a:solidFill>
            <a:srgbClr val="00A86B">
              <a:alpha val="12000"/>
            </a:srgbClr>
          </a:solidFill>
          <a:ln w="12700">
            <a:solidFill>
              <a:srgbClr val="00A86B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0292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914400"/>
            <a:ext cx="237744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HEALTH PITCH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HealthRecord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3657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Patient Management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2926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paper folder queues through instant ID-based patient lookup — built for South African public health clinics.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Department of Health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patients wait in long queues just to retrieve a paper folder.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delays actual healthcare delivery and wastes clinic resources.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745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9768" y="24871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 times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" y="2898648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spend 20–45 minutes in queues before even seeing a healthcare worker — not because of clinical demand, but folder retrieval.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169164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691640"/>
            <a:ext cx="2606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8745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2024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64408" y="24871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misfiled records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264408" y="2898648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folders are lost, misfiled, or damaged. Missing records lead to repeated tests, medication errors, and delayed diagnoses.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989320" y="169164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89320" y="169164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72200" y="18745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99048" y="24871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continuity of care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99048" y="2898648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patients visit a different clinic or are referred, their records don't follow them. Every visit starts from scratch.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 number. Instant access.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HealthRecord replaces paper folders with a secure digital system. Patients type their SA ID number — their complete record appears in under a second.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393192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13432"/>
            <a:ext cx="475488" cy="47548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5000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207568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kiosk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" y="240487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enters 13-digit SA ID number. Record and next appointment display instantly.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1965960"/>
            <a:ext cx="393192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313432"/>
            <a:ext cx="475488" cy="47548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500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85232" y="207568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85232" y="240487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views full history, writes diagnosis, prescription, and visit notes digitally.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3383280"/>
            <a:ext cx="393192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730752"/>
            <a:ext cx="475488" cy="47548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6732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3272" y="349300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system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33272" y="382219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books and manages appointments. Status updates in real time.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0" y="3383280"/>
            <a:ext cx="393192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3730752"/>
            <a:ext cx="475488" cy="47548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67328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85232" y="349300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POPIA-compliant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285232" y="382219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encrypted data, full audit trail for every record access.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arrival to consultation in under 2 minutes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640080" cy="64008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32688" y="1709928"/>
            <a:ext cx="1078992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16184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2212848"/>
            <a:ext cx="1554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2359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" y="2852928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to self-service kiosk at clinic entrance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93392" y="1417320"/>
            <a:ext cx="640080" cy="64008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651760" y="1709928"/>
            <a:ext cx="1078992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16184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2212848"/>
            <a:ext cx="1554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75104" y="2359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ID number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75104" y="2852928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13-digit SA ID on touchscreen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12464" y="1417320"/>
            <a:ext cx="640080" cy="64008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370832" y="1709928"/>
            <a:ext cx="1078992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16184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39312" y="2212848"/>
            <a:ext cx="1554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94176" y="2359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appears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94176" y="2852928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&amp; appointment shown in &lt;1 second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31536" y="1417320"/>
            <a:ext cx="640080" cy="64008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3153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089904" y="1709928"/>
            <a:ext cx="1078992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9168" y="161848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58384" y="2212848"/>
            <a:ext cx="1554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13248" y="2359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is notified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2852928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alerts staff patient has checked 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50608" y="1417320"/>
            <a:ext cx="640080" cy="64008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0608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077456" y="2212848"/>
            <a:ext cx="1554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32320" y="2359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opens record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2852928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notes, diagnosis &amp; prescription digitally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savings for clinics and patients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64008" cy="16002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8132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286000" y="1463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 lookup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95681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20–45 min with paper folders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1298448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1298448"/>
            <a:ext cx="64008" cy="1600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48132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601968" y="1463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patients seen per 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01968" y="195681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pilot clinic estimates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81528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81528"/>
            <a:ext cx="64008" cy="1600200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2644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2286000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or misfiled records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73989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with backups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3081528"/>
            <a:ext cx="400507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3081528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32644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601968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 from day 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01968" y="373989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encryption, role access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meet South Africa's POPIA requirements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system was designed with patient data protection in mind.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" y="1572768"/>
            <a:ext cx="2743200" cy="14447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682496"/>
            <a:ext cx="411480" cy="41148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709928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16642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SSL encryption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" y="2139696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in transit using TLS 1.3. Let's Encrypt certificate — industry standard.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8688" y="1572768"/>
            <a:ext cx="2743200" cy="14447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1682496"/>
            <a:ext cx="411480" cy="41148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709928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77056" y="16642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55848" y="2139696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see clinical data only. Receptionists see contact info only. Admins manage the system.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44768" y="1572768"/>
            <a:ext cx="2743200" cy="14447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81928" y="1682496"/>
            <a:ext cx="411480" cy="41148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709928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03136" y="16642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81928" y="2139696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record access logged: who, what, when. Required by POPIA Section 22.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92608" y="3172968"/>
            <a:ext cx="2743200" cy="14447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29768" y="3282696"/>
            <a:ext cx="411480" cy="41148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310128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976" y="32644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29768" y="3739896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stored in PostgreSQL with hashed passwords. Server firewall blocks all non-HTTPS traffic.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18688" y="3172968"/>
            <a:ext cx="2743200" cy="14447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55848" y="3282696"/>
            <a:ext cx="411480" cy="41148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310128"/>
            <a:ext cx="338328" cy="3383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77056" y="32644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355848" y="3739896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collect what is needed for healthcare. No marketing data. No third-party sharing.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144768" y="3172968"/>
            <a:ext cx="2743200" cy="14447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81928" y="3282696"/>
            <a:ext cx="411480" cy="41148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310128"/>
            <a:ext cx="338328" cy="33832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03136" y="32644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response plan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281928" y="3739896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procedure: contain → assess → notify Information Regulator within 72 hours.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proven, open-source technology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free, actively maintained, and used in production healthcare systems worldwide.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1188720" cy="5303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7276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16642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modern web interface. Works on any device — desktop, tablet, or kiosk touchscreen.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8503920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39696"/>
            <a:ext cx="1188720" cy="5303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3969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212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2231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 API server. Handles ID lookups in under 100ms even under high load.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06624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06624"/>
            <a:ext cx="1188720" cy="5303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066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27797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51960" y="279806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relational database. Used by healthcare systems globally. Free, open-source.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273552"/>
            <a:ext cx="8503920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73552"/>
            <a:ext cx="1188720" cy="5303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735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0200" y="3346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JWT + bcrypt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33649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security libraries. JWT tokens expire after each shift (8 hours).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840480"/>
            <a:ext cx="1188720" cy="5303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404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00200" y="3913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PM2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51960" y="3931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handles HTTPS. PM2 keeps the app running 24/7 — auto-restarts if anything crashes.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407408"/>
            <a:ext cx="1188720" cy="5303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4074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00200" y="4480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 or cloud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51960" y="44988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on a R5,000 clinic PC or a R200/month VPS. No vendor lock-in.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to province — a phased rollout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23444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234440"/>
            <a:ext cx="33375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234440"/>
            <a:ext cx="64008" cy="107899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14416" y="13258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14416" y="156362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1 clinic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14416" y="185623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system, train staff  ·  Register all existing patients  ·  Measure time savings vs paper  ·  Gather patient &amp; staff feedback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441448"/>
            <a:ext cx="33375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441448"/>
            <a:ext cx="64008" cy="10789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14416" y="253288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4–9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14416" y="277063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rollout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14416" y="30632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5–10 clinics  ·  Shared database across facilities  ·  Continuity of care across sites  ·  Train district IT support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3648456"/>
            <a:ext cx="33375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648456"/>
            <a:ext cx="64008" cy="107899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4416" y="37398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10–21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614416" y="397764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Province-wide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14416" y="427024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all province clinics  ·  Integration with national systems  ·  Mobile app for rural access  ·  Full POPIA audit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cost. High impact.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free, open-source software. The only hardware cost is a basic server and tablet.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58200" cy="324612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3375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/ clinic 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R5,000 – R8,000 once-off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Ubuntu PC. Can reuse existing hardware.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 for kiosk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R2,500 – R4,000 once-off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tablet with touchscreen for patient self-service.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name (.co.za)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±R150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clinicname.co.za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certificate (HTTPS)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Let's Encrypt — free, automatic, trusted by all browsers.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licences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software is open-source. No monthly subscription fees.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hosting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±R200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not using on-site server. Hetzner South Africa.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 (pilot)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R15,000 once-off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1 clinic. Hardware amortised over 5+ years.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0" y="-731520"/>
            <a:ext cx="5486400" cy="5486400"/>
          </a:xfrm>
          <a:prstGeom prst="ellipse">
            <a:avLst/>
          </a:prstGeom>
          <a:solidFill>
            <a:srgbClr val="00A86B">
              <a:alpha val="10000"/>
            </a:srgbClr>
          </a:solidFill>
          <a:ln w="12700">
            <a:solidFill>
              <a:srgbClr val="00A86B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5029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60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pilot.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365760" y="175564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built, tested, and ready to deploy.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60" y="22402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requesting approval to run a 3-month pilot at one clinic.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folders. No long queues. Just fast, secure, dignified healthcare.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127248"/>
            <a:ext cx="6217920" cy="47548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20040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7552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pilot clinic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94760" y="32186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 clinic for a 3-month trial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3694176"/>
            <a:ext cx="6217920" cy="47548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76732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87552" y="3767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hardware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94760" y="378561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 server + 1 tablet per pilot clinic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4261104"/>
            <a:ext cx="6217920" cy="47548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33425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87552" y="43342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IT contact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94760" y="435254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 to coordinate installation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HealthRecord — Digital Patient Management System</dc:title>
  <dc:subject>PptxGenJS Presentation</dc:subject>
  <dc:creator>HealthRecord Project Team</dc:creator>
  <cp:lastModifiedBy>HealthRecord Project Team</cp:lastModifiedBy>
  <cp:revision>1</cp:revision>
  <dcterms:created xsi:type="dcterms:W3CDTF">2026-05-18T19:14:28Z</dcterms:created>
  <dcterms:modified xsi:type="dcterms:W3CDTF">2026-05-18T19:14:28Z</dcterms:modified>
</cp:coreProperties>
</file>